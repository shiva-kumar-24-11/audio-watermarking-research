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70" r:id="rId9"/>
    <p:sldId id="261" r:id="rId10"/>
    <p:sldId id="271" r:id="rId11"/>
    <p:sldId id="272" r:id="rId12"/>
    <p:sldId id="262" r:id="rId13"/>
    <p:sldId id="273" r:id="rId14"/>
    <p:sldId id="274" r:id="rId15"/>
    <p:sldId id="263" r:id="rId16"/>
    <p:sldId id="264" r:id="rId17"/>
    <p:sldId id="26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F9D03F-9815-36BF-9B26-E6023AD7A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B8D3F-76A8-8ED4-3B6E-FBF110E074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74C59-C163-4F46-BF4A-3DCBC8BEFA8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8F134-6F31-D98F-EE4E-5F9F80E674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9E4A-51CC-B193-D53D-DABDC0743B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2F009-48A1-4DFE-979A-578E3AA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7079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85A7F-A4AC-4BE9-942F-6D2F5AE7F57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4460B-63EF-43DC-99B3-2579CAA14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2568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E84B-F7B3-0125-F925-912D05CB9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C3C00-A8BA-2132-1CF4-C9F343DF8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5FA1E-D6C0-8219-3905-661D515F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E7BE6-2375-4CE9-8DE4-49E7F92436FF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1C17-5AD7-7AE1-0D18-BEEA801B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0AF7D-6382-CC0E-6FCC-FAAB05F9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98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2996-9EE2-4F0C-E5B7-58EA2589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39D8C-48ED-DBA4-F563-E232F3442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AC5C9-32D0-C2A8-F481-37EBFE0A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7F4F-D6FF-4504-A30E-593EC234D9DD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27663-184D-4EA3-6F2D-E13086D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E4EF1-3A9C-0E29-9099-DA4AA26D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6536-C347-C867-FCE4-E36EC300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1CD93-FFBC-0878-8C58-BE00D6E65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FC00-D6FC-92A2-BDB6-A1CD08F8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DA2-1B8E-4154-B1C5-CFBFD84ED2E0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9BD9-C3BE-01E7-B581-0F9A29E4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9A555-E668-AC6D-5BE3-25FFEEFE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0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971A-D722-4E93-919D-4C526D98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F552-D57F-5C9B-1CC0-78F020D7D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40BEE-548C-F21F-5349-A2919102E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A031E-7B9E-ADDD-D03F-ED1CB301F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98EF-2701-45C1-B141-66C605A0D348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A6C0E-B211-BE04-8E80-79E42032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54003-80ED-1D73-952C-46CA27AA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50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C455-93E9-AAE7-6B6F-921AB848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97987-6F63-114A-9E6E-86220F307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7E430-44A0-EEAA-B432-BFEE0AA82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C3021-75DF-8EB1-071D-43E5879FC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EF3E4-1661-B6C9-1CCC-01256780D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15047-DD7F-1E25-0C3D-C8DB74DA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19B9-26D4-40EE-8801-6596DBB974F8}" type="datetime1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A923E-BC10-5CBA-F5E5-107B583F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B2829-C2E8-EF2C-E9BE-5B2506CB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3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8718-83FA-69E5-5DB9-50271708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9B1E7-42C8-A97A-62E2-3F648C74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3161E-A63B-47C1-985B-074C3CD85575}" type="datetime1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2FB74-E0AC-7076-72CC-1D0766B5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A9EF4-1644-3A16-D13D-7C125288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33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FBC39-180D-CCF4-74B7-F0AE8136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1D2FD-A23B-496D-A94D-7DB02E94D6EA}" type="datetime1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D6B3F-3AE6-3E6F-827A-02CEEE12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95A19-D1D4-8A42-5B6C-7CEFCD9C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87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1119-D4B3-DB16-E660-DDDCE433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8E4E6-CF16-790E-6CD0-F9D750DE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8B58B-6D91-6A19-59C5-AC8EC003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9AC9A-602B-44E3-958A-728005B2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2DFFB-AB3F-4C60-81C3-853820D55BAC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26AF2-5DC3-0BB7-6F9D-4ADE092E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A7B51-CBFC-6DEA-29AC-006428F5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7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1D6E-1C92-0770-14C9-960D5DD39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3DAEB-29A9-C44A-1E6B-66D1DE89F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09BA3-CA3F-B51A-EFB3-FCE236FDF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90401-DD16-69AE-9340-AB358E6E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51DE1-D356-41E1-A995-B1A564B4AB8E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1E271-558C-F67A-338A-375E24FB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41C22-24CF-6112-8C6F-55141915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12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968C-3BBF-C163-9F91-E4BA3AB6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654E2-8BAF-5FE0-B6CF-61BFE4E8E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60465-7ABE-70B7-388D-7A646D54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DCF60-38B0-42FB-8D8A-370C16CBE8D3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7CAB7-43FE-75F4-BCFE-903C820E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A486D-3E37-0BA4-04DF-1EA58EEF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F1C58-595B-8235-763B-BB4894D4F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D5B38-2A6E-5BC5-3503-92537FD36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4688C-E7DC-CB2F-1CCB-D6FB2E09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D5281-342E-4703-A9E0-B76CC6886726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AC2C6-453D-E6DB-36A0-CF567DB7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293F9-AD4A-58E0-73EB-53A76A5F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18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DFD7A-A6E7-28C4-C336-1A3B665B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B63F5-CBBB-A9AE-BD5F-28C2C192B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4253-EFB8-1096-3237-BF17FB36C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83BF0-20AD-4B20-8C32-DCFDC234D4C6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3041D-ADD9-4EFC-6D29-C08510764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6FE54-AABB-A3FB-96FE-AC936DF73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990BB-273A-4744-B1C7-19D6F5364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9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https:/doi.org/10.1016/j.cosrev.2020.10026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https:/doi.org/10.1016/j.sasc.2026.200464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62EE9-DF9D-B71C-7EA7-D1EA67722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81" y="-85560"/>
            <a:ext cx="1816037" cy="1816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9D6100-8432-9173-BA6C-2545BECF1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336" y="481781"/>
            <a:ext cx="9163664" cy="302818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Time-Domain Spread Spectrum Approach for Low-Latency Audio Watermarking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3F35-7F15-C2FD-58BB-2F9C24E38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865" y="3274142"/>
            <a:ext cx="9694606" cy="2595716"/>
          </a:xfrm>
        </p:spPr>
        <p:txBody>
          <a:bodyPr>
            <a:normAutofit/>
          </a:bodyPr>
          <a:lstStyle/>
          <a:p>
            <a:r>
              <a:rPr lang="en-US" dirty="0"/>
              <a:t>Paper ID: 340</a:t>
            </a:r>
          </a:p>
          <a:p>
            <a:r>
              <a:rPr lang="en-IN" dirty="0"/>
              <a:t>Presenter name:  Shiva Kumar, Naga Phanindra </a:t>
            </a:r>
            <a:r>
              <a:rPr lang="en-IN" dirty="0" err="1"/>
              <a:t>Bandreddy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6B24E-93F8-F0F1-0163-9A57896B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9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F5B3-5EC5-DC6E-693D-162A4DFA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A5D4-8812-2926-1566-3F28DCDA6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FFC00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20000"/>
              </a:lnSpc>
              <a:buClr>
                <a:srgbClr val="FFC00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>
              <a:lnSpc>
                <a:spcPct val="120000"/>
              </a:lnSpc>
              <a:buClr>
                <a:srgbClr val="FFC00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>
              <a:lnSpc>
                <a:spcPct val="120000"/>
              </a:lnSpc>
              <a:buClr>
                <a:srgbClr val="FFC00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 and Discussion</a:t>
            </a:r>
          </a:p>
          <a:p>
            <a:pPr>
              <a:lnSpc>
                <a:spcPct val="120000"/>
              </a:lnSpc>
              <a:buClr>
                <a:srgbClr val="FFC00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20000"/>
              </a:lnSpc>
              <a:buClr>
                <a:srgbClr val="FFC000"/>
              </a:buClr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C5127-F5D7-A09C-F4E7-F5C9C2BD8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039" y="-32302"/>
            <a:ext cx="1762779" cy="176277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DA3D8-313F-1548-0902-CB91B929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4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88B1-63CD-1431-A4EF-D398D108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26C-BE59-ACF2-43C4-8999A24C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multimedia and real-time audio applications such as streaming, video calls, and live broadcasting.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concerns regarding copyright protection, security, and content authentication.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watermarking enables invisible embedding of ownership and authentication information into audio signals.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Watermarking systems must balance key factors: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imperceptibility, robustness, and capacity (magic triangle)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(DWT, SVD, deep learning) improve robustness but suffer from high computational complexity.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are designed for offline processing, assuming full audio availability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 require very low latency (≤ 25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proper interaction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significant research gap in developing low-latency, real-time watermarking systems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6840C-BE0B-6A72-823F-6363B22C8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039" y="-32302"/>
            <a:ext cx="1762779" cy="176277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94A1F-1A69-5223-B58C-959BDFDE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307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AB1A-6180-31AF-A48A-3FFA89F6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B44C-9048-1591-3B5F-2767AE4F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B99D-6AC0-E7AE-63FB-8AE0CD04A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multimedia and real-time audio applications such as streaming, video calls, and live broadcasting.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concerns regarding copyright protection, security, and content authentication.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watermarking enables invisible embedding of ownership and authentication information into audio signals.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Watermarking systems must balance key factors: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imperceptibility, robustness, and capacity (magic triangle)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(DWT, SVD, deep learning) improve robustness but suffer from high computational complexity.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are designed for offline processing, assuming full audio availability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 require very low latency (≤ 25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proper interaction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significant research gap in developing low-latency, real-time watermarking systems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D934D-B384-E3FE-ABEA-400012E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039" y="-32302"/>
            <a:ext cx="1762779" cy="176277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F5B6A-1E40-D841-9EA3-B2DA7885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91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A22A-2B52-787E-DFA3-2C2202B2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C36595-58D9-F543-4803-A33297F0A7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8426" y="1343509"/>
            <a:ext cx="967494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watermarking research focuses on trade-off between imperceptibility, robustness, capacity, and computational cost.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 domain methods (DWT, SVD) provide high robustness and capacity but increase processing complexity.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 improve performance but require high computational resources, limiting real-time use.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methods achieve strong robustness but introduce high latency due to complex operations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approaches exist, but many depend on full audio signal availability, limiting practical usage.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High-capacity techniques (e.g., spectrum-based methods) are computationally expensive and unsuitable for low-latency systems </a:t>
            </a:r>
            <a:b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A0A70-58FB-DF1F-BFFD-0BD5BECB8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039" y="-32302"/>
            <a:ext cx="1762779" cy="176277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1BA68-D8DB-21DF-3006-205440DA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75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69EBB-BB10-D280-4EAD-5083B688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6DDF1-37DF-A4A3-84AB-60EB709EF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039" y="-32302"/>
            <a:ext cx="1762779" cy="176277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F4B96F-7697-0FC5-FD46-B33FFC3EB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17781"/>
              </p:ext>
            </p:extLst>
          </p:nvPr>
        </p:nvGraphicFramePr>
        <p:xfrm>
          <a:off x="1671484" y="644150"/>
          <a:ext cx="8642555" cy="5294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924">
                  <a:extLst>
                    <a:ext uri="{9D8B030D-6E8A-4147-A177-3AD203B41FA5}">
                      <a16:colId xmlns:a16="http://schemas.microsoft.com/office/drawing/2014/main" val="2085430624"/>
                    </a:ext>
                  </a:extLst>
                </a:gridCol>
                <a:gridCol w="2128877">
                  <a:extLst>
                    <a:ext uri="{9D8B030D-6E8A-4147-A177-3AD203B41FA5}">
                      <a16:colId xmlns:a16="http://schemas.microsoft.com/office/drawing/2014/main" val="1243332229"/>
                    </a:ext>
                  </a:extLst>
                </a:gridCol>
                <a:gridCol w="2128877">
                  <a:extLst>
                    <a:ext uri="{9D8B030D-6E8A-4147-A177-3AD203B41FA5}">
                      <a16:colId xmlns:a16="http://schemas.microsoft.com/office/drawing/2014/main" val="26528121"/>
                    </a:ext>
                  </a:extLst>
                </a:gridCol>
                <a:gridCol w="2128877">
                  <a:extLst>
                    <a:ext uri="{9D8B030D-6E8A-4147-A177-3AD203B41FA5}">
                      <a16:colId xmlns:a16="http://schemas.microsoft.com/office/drawing/2014/main" val="1426364563"/>
                    </a:ext>
                  </a:extLst>
                </a:gridCol>
              </a:tblGrid>
              <a:tr h="40074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 Paper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44145" algn="l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l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l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 / Gaps for Real-Time Use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163150"/>
                  </a:ext>
                </a:extLst>
              </a:tr>
              <a:tr h="632361"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[10]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SSVS-SSVD (SVD &amp; Spread Spectrum)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robustness to desynchronization attacks; Fast full-process time (&lt;1s).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 from SVD; Designed for stereo signals; Latency not measured for live embedding.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830329"/>
                  </a:ext>
                </a:extLst>
              </a:tr>
              <a:tr h="471574"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[11]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DWT-SVD with Parallel Computing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real-time throughput for full-file processing on multi-core hardware.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entire signal a priori; Not suitable for live streaming; High hardware dependency (16-core cluster). 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911280"/>
                  </a:ext>
                </a:extLst>
              </a:tr>
              <a:tr h="471574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Detector in DWT Domain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capacity (1225 bps); Robust to MP3 compression.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load from ensemble and DWT; Latency not reported for real-time contexts.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475785"/>
                  </a:ext>
                </a:extLst>
              </a:tr>
              <a:tr h="722042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[13] 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Synchronization via Spectrum Distribution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Extremely high capacity (up to 8000 bps).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computational cost from spectral analysis; Impractical for low-latency applications.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418694"/>
                  </a:ext>
                </a:extLst>
              </a:tr>
              <a:tr h="471574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[14]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Multi-Subspace Echo Hiding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Good security and imperceptibility through time-frequency masking.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complex echo kernel design; Embedding time too slow for real-time.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118145"/>
                  </a:ext>
                </a:extLst>
              </a:tr>
              <a:tr h="400748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[15]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Spikegram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&amp; Two-Dictionary Approach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bio-inspired approach; Good security.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complexity from sparse coding and dictionary learning.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6216102"/>
                  </a:ext>
                </a:extLst>
              </a:tr>
              <a:tr h="471574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[16]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 with Integer Wavelet Transform (IWT)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False-positive-free;Good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imperceptibility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Authors explicitly state it is not suitable for real-time due to high complexity.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8879592"/>
                  </a:ext>
                </a:extLst>
              </a:tr>
              <a:tr h="400748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[17]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 LWT Coefficient Magnitudes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 extraction; Synchronous blind detection.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Computationally expensive sorting and shaping during embedding.</a:t>
                      </a:r>
                      <a:endParaRPr lang="en-IN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860058"/>
                  </a:ext>
                </a:extLst>
              </a:tr>
              <a:tr h="851589"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[8]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Domain (tamper detection)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44145" algn="just">
                        <a:lnSpc>
                          <a:spcPct val="107000"/>
                        </a:lnSpc>
                        <a:spcAft>
                          <a:spcPts val="176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Truly low-latency and real-time capable.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Only for tamper detection; Very low capacity; Not for general-purpose watermarking.</a:t>
                      </a:r>
                      <a:endParaRPr lang="en-IN" sz="9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9541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9A5F2B-8A6F-3954-9936-C812B22F1F56}"/>
              </a:ext>
            </a:extLst>
          </p:cNvPr>
          <p:cNvSpPr txBox="1"/>
          <p:nvPr/>
        </p:nvSpPr>
        <p:spPr>
          <a:xfrm>
            <a:off x="2032000" y="314632"/>
            <a:ext cx="8046065" cy="659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Table 1.</a:t>
            </a:r>
            <a:r>
              <a:rPr lang="en-GB" dirty="0"/>
              <a:t>  </a:t>
            </a:r>
            <a:r>
              <a:rPr lang="en-US" b="1" dirty="0"/>
              <a:t>Comparative Analysis of Recent Audio Watermarking Techniques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19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CDA62F-4E8E-9087-947C-B408ACC9B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039" y="-32302"/>
            <a:ext cx="1762779" cy="17627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52376-6CDB-0872-832D-722D60CE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03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A53F-510B-D524-540C-699B9EB2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435510"/>
            <a:ext cx="10793361" cy="474145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audio watermarking is challenging due to strict latency and processing requirements.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domain techniques (DWT, SVD) provide robustness but introduce high processing delay.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latency is strongly dependent on buffer size.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buffer size decreases latency but may affect  audio quality and psychoacoustic performance.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uses frame-based processing  for continuous real-time operation.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F86C1-5B46-8E81-C877-3C7A6119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2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705">
            <a:extLst>
              <a:ext uri="{FF2B5EF4-FFF2-40B4-BE49-F238E27FC236}">
                <a16:creationId xmlns:a16="http://schemas.microsoft.com/office/drawing/2014/main" id="{9C80A226-D0DF-C6C0-3427-9C12560A8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5" r="4918"/>
          <a:stretch>
            <a:fillRect/>
          </a:stretch>
        </p:blipFill>
        <p:spPr bwMode="auto">
          <a:xfrm>
            <a:off x="2005781" y="749300"/>
            <a:ext cx="6007509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E315B-2A68-1FA7-8482-487230AB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199C7-88DB-218D-E411-80D266814962}"/>
              </a:ext>
            </a:extLst>
          </p:cNvPr>
          <p:cNvSpPr txBox="1"/>
          <p:nvPr/>
        </p:nvSpPr>
        <p:spPr>
          <a:xfrm>
            <a:off x="1887793" y="216310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Flowchart illustrating the workflow of the proposed real-time audio watermarking system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C2677-4AE6-FF86-32C0-CAF312E3A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6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56C3BF-6882-80FF-B977-36DD0DFF0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D0B69-F0CF-867B-BB93-8ACF6D39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21" y="769025"/>
            <a:ext cx="11038114" cy="554559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 embedding is performed using the time-domain spread spectrum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technique.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processes audio through stages: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uses Web Audio API and browser-based processing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real-time execution.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D8EA49-AD56-55D1-92B2-097F62D91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time-domain spread spectrum technique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AD438-2D1C-5AFA-F466-9EED9E2E8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" t="37401" r="2116" b="38727"/>
          <a:stretch>
            <a:fillRect/>
          </a:stretch>
        </p:blipFill>
        <p:spPr>
          <a:xfrm>
            <a:off x="402772" y="2160325"/>
            <a:ext cx="10036630" cy="1268675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BEEA37A-BC31-3C5E-D363-6AB2BF1A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68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991B1-B0E9-C0FB-9D83-EAAAC61F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E37DA15E-4A1A-2269-7413-02B5E3837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042" y="946290"/>
            <a:ext cx="8321916" cy="3864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22215E-D749-EAB6-7840-E0E822E9DB34}"/>
              </a:ext>
            </a:extLst>
          </p:cNvPr>
          <p:cNvSpPr txBox="1"/>
          <p:nvPr/>
        </p:nvSpPr>
        <p:spPr>
          <a:xfrm>
            <a:off x="2015613" y="4988380"/>
            <a:ext cx="8603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interface of the proposed advanced audio watermarking system used for uploading audio files and configuring watermark embedding parameters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4ACAA-82A1-F00B-4B6F-2CF3B9613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72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6858C-C03F-3E61-14AC-B56C51EE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pic>
        <p:nvPicPr>
          <p:cNvPr id="3074" name="Picture 1">
            <a:extLst>
              <a:ext uri="{FF2B5EF4-FFF2-40B4-BE49-F238E27FC236}">
                <a16:creationId xmlns:a16="http://schemas.microsoft.com/office/drawing/2014/main" id="{6AA72D4A-92FC-1E67-60AC-EEDB304BD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811" y="1572711"/>
            <a:ext cx="7582377" cy="3677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1F3C80-3740-0C71-7C6D-29F58C025C76}"/>
              </a:ext>
            </a:extLst>
          </p:cNvPr>
          <p:cNvSpPr txBox="1"/>
          <p:nvPr/>
        </p:nvSpPr>
        <p:spPr>
          <a:xfrm>
            <a:off x="2304811" y="904568"/>
            <a:ext cx="8255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analysis and watermark extraction results showing spectrum comparison between host audio, watermark audio, and the final watermarked audio signal.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F2850-514D-510F-EC2D-B3A1A6169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53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5242-E3FF-2B7E-2F3A-EA7E96F0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8AC34A-F525-D73B-0AE1-FCDB99B61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3914" y="1628283"/>
            <a:ext cx="1134291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evaluated using key performance metrics: latency, imperceptibility, robustness, and capacity.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Experiments conducted on different audio types (speech and music signals).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Latency measured using: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software-based method and hardware (oscilloscope) method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very low embedding delay of approximately 0.53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Time-domain spread spectrum method reduces computational complexity compared to transform methods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1852B-492B-1A8F-08DC-142DEF070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498637-4260-0DA7-CC88-9EBB3B04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64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91956-3EE0-D0DD-8DB8-6744B646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pic>
        <p:nvPicPr>
          <p:cNvPr id="4098" name="Picture 1">
            <a:extLst>
              <a:ext uri="{FF2B5EF4-FFF2-40B4-BE49-F238E27FC236}">
                <a16:creationId xmlns:a16="http://schemas.microsoft.com/office/drawing/2014/main" id="{821756FD-B084-BD21-88D9-521314182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878" y="1521541"/>
            <a:ext cx="7792244" cy="381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7A5CF8-FA36-6A35-B444-22C496E8F358}"/>
              </a:ext>
            </a:extLst>
          </p:cNvPr>
          <p:cNvSpPr txBox="1"/>
          <p:nvPr/>
        </p:nvSpPr>
        <p:spPr>
          <a:xfrm>
            <a:off x="2153264" y="869377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Audio playback and comparison interface showing host audio, watermarked audio, and extracted watermark signals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62154-FCA1-363B-F504-344D0BA57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1337D-165C-EC5C-A254-A30E9B5A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E7D857-8FA1-7D27-E944-7201DF5D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968838"/>
              </p:ext>
            </p:extLst>
          </p:nvPr>
        </p:nvGraphicFramePr>
        <p:xfrm>
          <a:off x="2179484" y="1781549"/>
          <a:ext cx="8128000" cy="252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10498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168930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019307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160540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42082977"/>
                    </a:ext>
                  </a:extLst>
                </a:gridCol>
              </a:tblGrid>
              <a:tr h="631245"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Buffer Size (Samples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Watermarking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Latency (</a:t>
                      </a:r>
                      <a:r>
                        <a:rPr lang="en-US" sz="900" dirty="0" err="1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   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Deviation (</a:t>
                      </a:r>
                      <a:r>
                        <a:rPr lang="en-US" sz="900" dirty="0" err="1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698524"/>
                  </a:ext>
                </a:extLst>
              </a:tr>
              <a:tr h="631245"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1(Software)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             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30.08           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3926027"/>
                  </a:ext>
                </a:extLst>
              </a:tr>
              <a:tr h="631245"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1(Software)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30.61           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0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005443"/>
                  </a:ext>
                </a:extLst>
              </a:tr>
              <a:tr h="631245"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1(Software)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22.63           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54635" indent="144145" algn="l">
                        <a:lnSpc>
                          <a:spcPct val="107000"/>
                        </a:lnSpc>
                        <a:spcAft>
                          <a:spcPts val="54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90078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334C13-2AA7-4635-72E4-CEA18277E0F7}"/>
              </a:ext>
            </a:extLst>
          </p:cNvPr>
          <p:cNvSpPr txBox="1"/>
          <p:nvPr/>
        </p:nvSpPr>
        <p:spPr>
          <a:xfrm>
            <a:off x="4414683" y="1248698"/>
            <a:ext cx="4168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Latency Measurement Results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37B16-1BBA-5386-5BE9-47E6EF11B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17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1667-A1B8-4F5D-0C48-8C9E284F7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480457"/>
            <a:ext cx="10853057" cy="469650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latency reduced using small buffer size (256 samples).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0% Bit Error Rate (BER) under MP3 compression (128 kbps)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capacity ranges from 78.75 bps to 110.25 bps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good perceptual audio quality with minimal distortion.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performs efficiently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consumer-grade hardware without performance degradation.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Hardware-based latency includes </a:t>
            </a:r>
            <a:r>
              <a:rPr lang="da-D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delays (OS, drivers, I/O buffering)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CEE6B-A7A5-C07E-409E-BA97E4452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D89BE-1416-277E-32D8-7CA2F323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14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7112-B430-8643-11F2-7062A06D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222402-61A9-ED19-71BD-B1B099ED30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514" y="1935781"/>
            <a:ext cx="1022897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 low-latency audio watermarking system for real-time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sub-3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embedding latency, suitable for interactive systems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Time-domain spread spectrum method reduces computational complexity and delay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good balance between imperceptibility, robustness, and capacity.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strong performance: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ODG ≈ −0.56, BER = 0%, Capacity ≈ 110 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efficiently on consumer-grade hardware without distortion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applications like video conferencing and live streaming.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7B447-3F62-D05F-FE86-76FECC61C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49DB22-D4B7-A069-29F1-AF3EE329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4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E444-3588-1272-7C77-C37CAE53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05BED-CE41-D1CA-F615-B34E8BEC8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39" y="-33706"/>
            <a:ext cx="1605461" cy="160546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7E0F91-DE32-5025-0887-309F7F49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740CC-E632-0B5C-86B8-0526F62C624D}"/>
              </a:ext>
            </a:extLst>
          </p:cNvPr>
          <p:cNvSpPr txBox="1"/>
          <p:nvPr/>
        </p:nvSpPr>
        <p:spPr>
          <a:xfrm>
            <a:off x="963561" y="1140541"/>
            <a:ext cx="93406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Falkowski-</a:t>
            </a:r>
            <a:r>
              <a:rPr lang="en-US" dirty="0" err="1"/>
              <a:t>Gilski</a:t>
            </a:r>
            <a:r>
              <a:rPr lang="en-US" dirty="0"/>
              <a:t>, P., Uhl, T.: Current trends in consumption of multimedia content using online streaming platforms: A user-centric survey. </a:t>
            </a:r>
            <a:r>
              <a:rPr lang="en-US" dirty="0" err="1"/>
              <a:t>Comput</a:t>
            </a:r>
            <a:r>
              <a:rPr lang="en-US" dirty="0"/>
              <a:t>. Sci. Rev. 37, 100268 (2020). </a:t>
            </a:r>
            <a:r>
              <a:rPr lang="en-US" dirty="0">
                <a:hlinkClick r:id="rId3"/>
              </a:rPr>
              <a:t>https://doi.org/https://doi.org/10.1016/j.cosrev.2020.100268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Hill, G.E., Associate, A.P.H.: Defending Distributed Denial Of Service (</a:t>
            </a:r>
            <a:r>
              <a:rPr lang="en-US" dirty="0" err="1"/>
              <a:t>Ddos</a:t>
            </a:r>
            <a:r>
              <a:rPr lang="en-US" dirty="0"/>
              <a:t>) Attacks: Classification And Art. Elem. Educ. Online. 20, 2498–2509 (2021). https://doi.org/10.17051/ilkonline.2021.02.266.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Santin-Cruz, C.J., Dolecek, G.J.: Audio Watermarking: Review, Analysis, and Classification of the Most Recent Conventional Cutting-Edge Results. Appl. Sci. 15, (2025). https://doi.org/10.3390/app152111514.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Euschi</a:t>
            </a:r>
            <a:r>
              <a:rPr lang="en-US" dirty="0"/>
              <a:t>, S., </a:t>
            </a:r>
            <a:r>
              <a:rPr lang="en-US" dirty="0" err="1"/>
              <a:t>Zermi</a:t>
            </a:r>
            <a:r>
              <a:rPr lang="en-US" dirty="0"/>
              <a:t>, N., Med Moad, S., Khaldi, A., Kafi, M.R., Sahu, A.K., Mimoune, N.: Blind audio watermarking for medical data authentication using fractional Charlier transform and adaptive dithered quantization index modulation. Syst. Soft </a:t>
            </a:r>
            <a:r>
              <a:rPr lang="en-US" dirty="0" err="1"/>
              <a:t>Comput</a:t>
            </a:r>
            <a:r>
              <a:rPr lang="en-US" dirty="0"/>
              <a:t>. 8, 200464 (2026). </a:t>
            </a:r>
            <a:r>
              <a:rPr lang="en-US" dirty="0">
                <a:hlinkClick r:id="rId4"/>
              </a:rPr>
              <a:t>https://doi.org/https://doi.org/10.1016/j.sasc.2026.200464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Power, L., </a:t>
            </a:r>
            <a:r>
              <a:rPr lang="en-US" dirty="0" err="1"/>
              <a:t>Yeonjin</a:t>
            </a:r>
            <a:r>
              <a:rPr lang="en-US" dirty="0"/>
              <a:t>, K., </a:t>
            </a:r>
            <a:r>
              <a:rPr lang="en-US" dirty="0" err="1"/>
              <a:t>Hee-seob</a:t>
            </a:r>
            <a:r>
              <a:rPr lang="en-US" dirty="0"/>
              <a:t>, K., Com, W.W.W.V.: Deep Learning-Driven Speech and Audio High-Speed Processing : Advances in Noise Reduction , Speech Comparator With Low Offset Enhancement , and Real-Time Voice Voltage Analytics Implemented in 45nm CMOS Technology. Natl. J. Speech Audio Process. 1, 9–16 (2025).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290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6128-ADAC-BDBE-C10D-A4956F734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362199"/>
            <a:ext cx="11919856" cy="4615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 THANK YOU</a:t>
            </a:r>
            <a:endParaRPr lang="en-IN" sz="5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16D61-1A0B-4D3A-D19D-1F3E4AC4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International Conference on Smart Computing and Informatics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5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1561</Words>
  <Application>Microsoft Office PowerPoint</Application>
  <PresentationFormat>Widescreen</PresentationFormat>
  <Paragraphs>163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Times</vt:lpstr>
      <vt:lpstr>Times New Roman</vt:lpstr>
      <vt:lpstr>Office Theme</vt:lpstr>
      <vt:lpstr>A Time-Domain Spread Spectrum Approach for Low-Latency Audio Watermarking  </vt:lpstr>
      <vt:lpstr>Outline </vt:lpstr>
      <vt:lpstr>Introduction</vt:lpstr>
      <vt:lpstr>Introduction</vt:lpstr>
      <vt:lpstr>LITERATURE SURVEY</vt:lpstr>
      <vt:lpstr>PowerPoint Presentation</vt:lpstr>
      <vt:lpstr>Methodology 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PowerPoint Presentation</vt:lpstr>
      <vt:lpstr>PowerPoint Presentation</vt:lpstr>
      <vt:lpstr>PowerPoint Presentation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Kumar</dc:creator>
  <cp:lastModifiedBy>Shiva Kumar</cp:lastModifiedBy>
  <cp:revision>12</cp:revision>
  <dcterms:created xsi:type="dcterms:W3CDTF">2026-04-05T13:02:08Z</dcterms:created>
  <dcterms:modified xsi:type="dcterms:W3CDTF">2026-04-17T06:18:17Z</dcterms:modified>
</cp:coreProperties>
</file>